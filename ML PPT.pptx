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Poppins Semi-Bold" charset="1" panose="00000700000000000000"/>
      <p:regular r:id="rId24"/>
    </p:embeddedFont>
    <p:embeddedFont>
      <p:font typeface="Poppins" charset="1" panose="00000500000000000000"/>
      <p:regular r:id="rId25"/>
    </p:embeddedFont>
    <p:embeddedFont>
      <p:font typeface="Poppins Bold" charset="1" panose="00000800000000000000"/>
      <p:regular r:id="rId26"/>
    </p:embeddedFont>
    <p:embeddedFont>
      <p:font typeface="Open Sans Light" charset="1" panose="020B0306030504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1793400" y="-712357"/>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AAD7D4">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571132" y="6449964"/>
            <a:ext cx="6983181" cy="669188"/>
            <a:chOff x="0" y="0"/>
            <a:chExt cx="1839192" cy="176247"/>
          </a:xfrm>
        </p:grpSpPr>
        <p:sp>
          <p:nvSpPr>
            <p:cNvPr name="Freeform 7" id="7"/>
            <p:cNvSpPr/>
            <p:nvPr/>
          </p:nvSpPr>
          <p:spPr>
            <a:xfrm flipH="false" flipV="false" rot="0">
              <a:off x="0" y="0"/>
              <a:ext cx="1839192" cy="176247"/>
            </a:xfrm>
            <a:custGeom>
              <a:avLst/>
              <a:gdLst/>
              <a:ahLst/>
              <a:cxnLst/>
              <a:rect r="r" b="b" t="t" l="l"/>
              <a:pathLst>
                <a:path h="176247" w="1839192">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name="TextBox 8" id="8"/>
            <p:cNvSpPr txBox="true"/>
            <p:nvPr/>
          </p:nvSpPr>
          <p:spPr>
            <a:xfrm>
              <a:off x="0" y="-38100"/>
              <a:ext cx="1839192" cy="21434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610563" y="3491698"/>
            <a:ext cx="13066873" cy="3032670"/>
          </a:xfrm>
          <a:prstGeom prst="rect">
            <a:avLst/>
          </a:prstGeom>
        </p:spPr>
        <p:txBody>
          <a:bodyPr anchor="t" rtlCol="false" tIns="0" lIns="0" bIns="0" rIns="0">
            <a:spAutoFit/>
          </a:bodyPr>
          <a:lstStyle/>
          <a:p>
            <a:pPr algn="ctr">
              <a:lnSpc>
                <a:spcPts val="10918"/>
              </a:lnSpc>
            </a:pPr>
            <a:r>
              <a:rPr lang="en-US" b="true" sz="12998" spc="-701">
                <a:solidFill>
                  <a:srgbClr val="1C2120"/>
                </a:solidFill>
                <a:latin typeface="Poppins Semi-Bold"/>
                <a:ea typeface="Poppins Semi-Bold"/>
                <a:cs typeface="Poppins Semi-Bold"/>
                <a:sym typeface="Poppins Semi-Bold"/>
              </a:rPr>
              <a:t>ML REINFORCEMENT</a:t>
            </a:r>
          </a:p>
        </p:txBody>
      </p:sp>
      <p:sp>
        <p:nvSpPr>
          <p:cNvPr name="TextBox 10" id="10"/>
          <p:cNvSpPr txBox="true"/>
          <p:nvPr/>
        </p:nvSpPr>
        <p:spPr>
          <a:xfrm rot="0">
            <a:off x="5835017" y="6562438"/>
            <a:ext cx="6617965" cy="482339"/>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SOWMIYA S</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7816659"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INTRODUCTION</a:t>
            </a:r>
          </a:p>
        </p:txBody>
      </p:sp>
      <p:sp>
        <p:nvSpPr>
          <p:cNvPr name="TextBox 3" id="3"/>
          <p:cNvSpPr txBox="true"/>
          <p:nvPr/>
        </p:nvSpPr>
        <p:spPr>
          <a:xfrm rot="0">
            <a:off x="910207" y="2571079"/>
            <a:ext cx="15269748" cy="5080482"/>
          </a:xfrm>
          <a:prstGeom prst="rect">
            <a:avLst/>
          </a:prstGeom>
        </p:spPr>
        <p:txBody>
          <a:bodyPr anchor="t" rtlCol="false" tIns="0" lIns="0" bIns="0" rIns="0">
            <a:spAutoFit/>
          </a:bodyPr>
          <a:lstStyle/>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Each IPL season consists of multiple teams competing in matches with uncertain outcomes. </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Analyzing historical match data plays a crucial role in predicting results and supporting informed decision-making.</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The Indian Premier League (IPL) is one of the most popular and widely followed cricket tournaments in the world. </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In this project, machine learning techniques are applied to predict the winning team of IPL matches based on past data.</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660893" y="1200150"/>
            <a:ext cx="11283205"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PROBLEM STATEMENT</a:t>
            </a:r>
          </a:p>
        </p:txBody>
      </p:sp>
      <p:sp>
        <p:nvSpPr>
          <p:cNvPr name="TextBox 3" id="3"/>
          <p:cNvSpPr txBox="true"/>
          <p:nvPr/>
        </p:nvSpPr>
        <p:spPr>
          <a:xfrm rot="0">
            <a:off x="1028700" y="2728649"/>
            <a:ext cx="15269748" cy="4442307"/>
          </a:xfrm>
          <a:prstGeom prst="rect">
            <a:avLst/>
          </a:prstGeom>
        </p:spPr>
        <p:txBody>
          <a:bodyPr anchor="t" rtlCol="false" tIns="0" lIns="0" bIns="0" rIns="0">
            <a:spAutoFit/>
          </a:bodyPr>
          <a:lstStyle/>
          <a:p>
            <a:pPr algn="just">
              <a:lnSpc>
                <a:spcPts val="5048"/>
              </a:lnSpc>
            </a:pPr>
            <a:r>
              <a:rPr lang="en-US" sz="3606">
                <a:solidFill>
                  <a:srgbClr val="1C2120"/>
                </a:solidFill>
                <a:latin typeface="Open Sans Light"/>
                <a:ea typeface="Open Sans Light"/>
                <a:cs typeface="Open Sans Light"/>
                <a:sym typeface="Open Sans Light"/>
              </a:rPr>
              <a:t>T</a:t>
            </a:r>
            <a:r>
              <a:rPr lang="en-US" sz="3606">
                <a:solidFill>
                  <a:srgbClr val="1C2120"/>
                </a:solidFill>
                <a:latin typeface="Open Sans Light"/>
                <a:ea typeface="Open Sans Light"/>
                <a:cs typeface="Open Sans Light"/>
                <a:sym typeface="Open Sans Light"/>
              </a:rPr>
              <a:t>he Indian Premier League (IPL) is a globally renowned T20 cricket tournament where match outcomes depend on several factors such as team combinations, toss results, venue conditions, and match dynamics. Due to the complex interaction of these factors, manual prediction of match winners is challenging. This project addresses this challenge by applying machine learning methods to analyze historical IPL data and predict match outcomes accurately.</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548343" y="757983"/>
            <a:ext cx="6195936"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OBJECTIVE</a:t>
            </a:r>
          </a:p>
        </p:txBody>
      </p:sp>
      <p:sp>
        <p:nvSpPr>
          <p:cNvPr name="TextBox 3" id="3"/>
          <p:cNvSpPr txBox="true"/>
          <p:nvPr/>
        </p:nvSpPr>
        <p:spPr>
          <a:xfrm rot="0">
            <a:off x="910207" y="2571079"/>
            <a:ext cx="15269748" cy="4442307"/>
          </a:xfrm>
          <a:prstGeom prst="rect">
            <a:avLst/>
          </a:prstGeom>
        </p:spPr>
        <p:txBody>
          <a:bodyPr anchor="t" rtlCol="false" tIns="0" lIns="0" bIns="0" rIns="0">
            <a:spAutoFit/>
          </a:bodyPr>
          <a:lstStyle/>
          <a:p>
            <a:pPr algn="just">
              <a:lnSpc>
                <a:spcPts val="5048"/>
              </a:lnSpc>
            </a:pPr>
            <a:r>
              <a:rPr lang="en-US" sz="3606">
                <a:solidFill>
                  <a:srgbClr val="1C2120"/>
                </a:solidFill>
                <a:latin typeface="Open Sans Light"/>
                <a:ea typeface="Open Sans Light"/>
                <a:cs typeface="Open Sans Light"/>
                <a:sym typeface="Open Sans Light"/>
              </a:rPr>
              <a:t>T</a:t>
            </a:r>
            <a:r>
              <a:rPr lang="en-US" sz="3606">
                <a:solidFill>
                  <a:srgbClr val="1C2120"/>
                </a:solidFill>
                <a:latin typeface="Open Sans Light"/>
                <a:ea typeface="Open Sans Light"/>
                <a:cs typeface="Open Sans Light"/>
                <a:sym typeface="Open Sans Light"/>
              </a:rPr>
              <a:t>he primary objectives of this project are:</a:t>
            </a:r>
          </a:p>
          <a:p>
            <a:pPr algn="just">
              <a:lnSpc>
                <a:spcPts val="5048"/>
              </a:lnSpc>
            </a:pPr>
            <a:r>
              <a:rPr lang="en-US" sz="3606">
                <a:solidFill>
                  <a:srgbClr val="1C2120"/>
                </a:solidFill>
                <a:latin typeface="Open Sans Light"/>
                <a:ea typeface="Open Sans Light"/>
                <a:cs typeface="Open Sans Light"/>
                <a:sym typeface="Open Sans Light"/>
              </a:rPr>
              <a:t> • To analyze and understand IPL match data</a:t>
            </a:r>
          </a:p>
          <a:p>
            <a:pPr algn="just">
              <a:lnSpc>
                <a:spcPts val="5048"/>
              </a:lnSpc>
            </a:pPr>
            <a:r>
              <a:rPr lang="en-US" sz="3606">
                <a:solidFill>
                  <a:srgbClr val="1C2120"/>
                </a:solidFill>
                <a:latin typeface="Open Sans Light"/>
                <a:ea typeface="Open Sans Light"/>
                <a:cs typeface="Open Sans Light"/>
                <a:sym typeface="Open Sans Light"/>
              </a:rPr>
              <a:t> • To identify key features influencing match results</a:t>
            </a:r>
          </a:p>
          <a:p>
            <a:pPr algn="just">
              <a:lnSpc>
                <a:spcPts val="5048"/>
              </a:lnSpc>
            </a:pPr>
            <a:r>
              <a:rPr lang="en-US" sz="3606">
                <a:solidFill>
                  <a:srgbClr val="1C2120"/>
                </a:solidFill>
                <a:latin typeface="Open Sans Light"/>
                <a:ea typeface="Open Sans Light"/>
                <a:cs typeface="Open Sans Light"/>
                <a:sym typeface="Open Sans Light"/>
              </a:rPr>
              <a:t> • To prepare clean and structured data suitable for machine learning</a:t>
            </a:r>
          </a:p>
          <a:p>
            <a:pPr algn="just">
              <a:lnSpc>
                <a:spcPts val="5048"/>
              </a:lnSpc>
            </a:pPr>
            <a:r>
              <a:rPr lang="en-US" sz="3606">
                <a:solidFill>
                  <a:srgbClr val="1C2120"/>
                </a:solidFill>
                <a:latin typeface="Open Sans Light"/>
                <a:ea typeface="Open Sans Light"/>
                <a:cs typeface="Open Sans Light"/>
                <a:sym typeface="Open Sans Light"/>
              </a:rPr>
              <a:t> • To build and train multiple machine learning models</a:t>
            </a:r>
          </a:p>
          <a:p>
            <a:pPr algn="just">
              <a:lnSpc>
                <a:spcPts val="5048"/>
              </a:lnSpc>
            </a:pPr>
            <a:r>
              <a:rPr lang="en-US" sz="3606">
                <a:solidFill>
                  <a:srgbClr val="1C2120"/>
                </a:solidFill>
                <a:latin typeface="Open Sans Light"/>
                <a:ea typeface="Open Sans Light"/>
                <a:cs typeface="Open Sans Light"/>
                <a:sym typeface="Open Sans Light"/>
              </a:rPr>
              <a:t> • To compare model performance and select the best one</a:t>
            </a:r>
          </a:p>
          <a:p>
            <a:pPr algn="just">
              <a:lnSpc>
                <a:spcPts val="5048"/>
              </a:lnSpc>
            </a:pPr>
            <a:r>
              <a:rPr lang="en-US" sz="3606">
                <a:solidFill>
                  <a:srgbClr val="1C2120"/>
                </a:solidFill>
                <a:latin typeface="Open Sans Light"/>
                <a:ea typeface="Open Sans Light"/>
                <a:cs typeface="Open Sans Light"/>
                <a:sym typeface="Open Sans Light"/>
              </a:rPr>
              <a:t> • To enhance model accuracy through hyperparameter tu</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1463285"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DATASET OVERVIEW</a:t>
            </a:r>
          </a:p>
        </p:txBody>
      </p:sp>
      <p:sp>
        <p:nvSpPr>
          <p:cNvPr name="TextBox 3" id="3"/>
          <p:cNvSpPr txBox="true"/>
          <p:nvPr/>
        </p:nvSpPr>
        <p:spPr>
          <a:xfrm rot="0">
            <a:off x="910207" y="2571079"/>
            <a:ext cx="15269748" cy="5080482"/>
          </a:xfrm>
          <a:prstGeom prst="rect">
            <a:avLst/>
          </a:prstGeom>
        </p:spPr>
        <p:txBody>
          <a:bodyPr anchor="t" rtlCol="false" tIns="0" lIns="0" bIns="0" rIns="0">
            <a:spAutoFit/>
          </a:bodyPr>
          <a:lstStyle/>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The dat</a:t>
            </a:r>
            <a:r>
              <a:rPr lang="en-US" sz="3606">
                <a:solidFill>
                  <a:srgbClr val="1C2120"/>
                </a:solidFill>
                <a:latin typeface="Open Sans Light"/>
                <a:ea typeface="Open Sans Light"/>
                <a:cs typeface="Open Sans Light"/>
                <a:sym typeface="Open Sans Light"/>
              </a:rPr>
              <a:t>aset comprises historical IPL match data collected across multiple seasons, with each row representing an individual match. It includes both categorical and numerical attributes related to teams, toss details, venue, season, city, and umpires.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Target Variable:</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Winner – the team that won the match</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The problem is formulated as a supervised machine learning classification task, as the target outcome is known.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3084008"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DATA COLLECTION</a:t>
            </a:r>
          </a:p>
        </p:txBody>
      </p:sp>
      <p:sp>
        <p:nvSpPr>
          <p:cNvPr name="TextBox 3" id="3"/>
          <p:cNvSpPr txBox="true"/>
          <p:nvPr/>
        </p:nvSpPr>
        <p:spPr>
          <a:xfrm rot="0">
            <a:off x="910207" y="2571079"/>
            <a:ext cx="15269748" cy="4442307"/>
          </a:xfrm>
          <a:prstGeom prst="rect">
            <a:avLst/>
          </a:prstGeom>
        </p:spPr>
        <p:txBody>
          <a:bodyPr anchor="t" rtlCol="false" tIns="0" lIns="0" bIns="0" rIns="0">
            <a:spAutoFit/>
          </a:bodyPr>
          <a:lstStyle/>
          <a:p>
            <a:pPr algn="just">
              <a:lnSpc>
                <a:spcPts val="5048"/>
              </a:lnSpc>
            </a:pPr>
            <a:r>
              <a:rPr lang="en-US" sz="3606">
                <a:solidFill>
                  <a:srgbClr val="1C2120"/>
                </a:solidFill>
                <a:latin typeface="Open Sans Light"/>
                <a:ea typeface="Open Sans Light"/>
                <a:cs typeface="Open Sans Light"/>
                <a:sym typeface="Open Sans Light"/>
              </a:rPr>
              <a:t>T</a:t>
            </a:r>
            <a:r>
              <a:rPr lang="en-US" sz="3606">
                <a:solidFill>
                  <a:srgbClr val="1C2120"/>
                </a:solidFill>
                <a:latin typeface="Open Sans Light"/>
                <a:ea typeface="Open Sans Light"/>
                <a:cs typeface="Open Sans Light"/>
                <a:sym typeface="Open Sans Light"/>
              </a:rPr>
              <a:t>he IPL match dataset was obtained from historical IPL records</a:t>
            </a:r>
          </a:p>
          <a:p>
            <a:pPr algn="just">
              <a:lnSpc>
                <a:spcPts val="5048"/>
              </a:lnSpc>
            </a:pPr>
            <a:r>
              <a:rPr lang="en-US" sz="3606">
                <a:solidFill>
                  <a:srgbClr val="1C2120"/>
                </a:solidFill>
                <a:latin typeface="Open Sans Light"/>
                <a:ea typeface="Open Sans Light"/>
                <a:cs typeface="Open Sans Light"/>
                <a:sym typeface="Open Sans Light"/>
              </a:rPr>
              <a:t>  • It contains match-level data from multiple IPL seasons</a:t>
            </a:r>
          </a:p>
          <a:p>
            <a:pPr algn="just">
              <a:lnSpc>
                <a:spcPts val="5048"/>
              </a:lnSpc>
            </a:pPr>
            <a:r>
              <a:rPr lang="en-US" sz="3606">
                <a:solidFill>
                  <a:srgbClr val="1C2120"/>
                </a:solidFill>
                <a:latin typeface="Open Sans Light"/>
                <a:ea typeface="Open Sans Light"/>
                <a:cs typeface="Open Sans Light"/>
                <a:sym typeface="Open Sans Light"/>
              </a:rPr>
              <a:t> • Each record corresponds to a completed IPL match with detailed attributes</a:t>
            </a:r>
          </a:p>
          <a:p>
            <a:pPr algn="just">
              <a:lnSpc>
                <a:spcPts val="5048"/>
              </a:lnSpc>
            </a:pPr>
            <a:r>
              <a:rPr lang="en-US" sz="3606">
                <a:solidFill>
                  <a:srgbClr val="1C2120"/>
                </a:solidFill>
                <a:latin typeface="Open Sans Light"/>
                <a:ea typeface="Open Sans Light"/>
                <a:cs typeface="Open Sans Light"/>
                <a:sym typeface="Open Sans Light"/>
              </a:rPr>
              <a:t> • Since the match winner is available, the dataset is suitable for supervised learning</a:t>
            </a:r>
          </a:p>
          <a:p>
            <a:pPr algn="just">
              <a:lnSpc>
                <a:spcPts val="5048"/>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3084008"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DATA UNDERSTANDING</a:t>
            </a:r>
          </a:p>
        </p:txBody>
      </p:sp>
      <p:sp>
        <p:nvSpPr>
          <p:cNvPr name="TextBox 3" id="3"/>
          <p:cNvSpPr txBox="true"/>
          <p:nvPr/>
        </p:nvSpPr>
        <p:spPr>
          <a:xfrm rot="0">
            <a:off x="910207" y="2571079"/>
            <a:ext cx="15269748" cy="3804132"/>
          </a:xfrm>
          <a:prstGeom prst="rect">
            <a:avLst/>
          </a:prstGeom>
        </p:spPr>
        <p:txBody>
          <a:bodyPr anchor="t" rtlCol="false" tIns="0" lIns="0" bIns="0" rIns="0">
            <a:spAutoFit/>
          </a:bodyPr>
          <a:lstStyle/>
          <a:p>
            <a:pPr algn="just">
              <a:lnSpc>
                <a:spcPts val="5048"/>
              </a:lnSpc>
            </a:pPr>
            <a:r>
              <a:rPr lang="en-US" sz="3606">
                <a:solidFill>
                  <a:srgbClr val="1C2120"/>
                </a:solidFill>
                <a:latin typeface="Open Sans Light"/>
                <a:ea typeface="Open Sans Light"/>
                <a:cs typeface="Open Sans Light"/>
                <a:sym typeface="Open Sans Light"/>
              </a:rPr>
              <a:t>  • T</a:t>
            </a:r>
            <a:r>
              <a:rPr lang="en-US" sz="3606">
                <a:solidFill>
                  <a:srgbClr val="1C2120"/>
                </a:solidFill>
                <a:latin typeface="Open Sans Light"/>
                <a:ea typeface="Open Sans Light"/>
                <a:cs typeface="Open Sans Light"/>
                <a:sym typeface="Open Sans Light"/>
              </a:rPr>
              <a:t>he dataset consists of both categorical and numerical features</a:t>
            </a:r>
          </a:p>
          <a:p>
            <a:pPr algn="just">
              <a:lnSpc>
                <a:spcPts val="5048"/>
              </a:lnSpc>
            </a:pPr>
            <a:r>
              <a:rPr lang="en-US" sz="3606">
                <a:solidFill>
                  <a:srgbClr val="1C2120"/>
                </a:solidFill>
                <a:latin typeface="Open Sans Light"/>
                <a:ea typeface="Open Sans Light"/>
                <a:cs typeface="Open Sans Light"/>
                <a:sym typeface="Open Sans Light"/>
              </a:rPr>
              <a:t> • Team names, toss outcomes, and venue information are categorical variables</a:t>
            </a:r>
          </a:p>
          <a:p>
            <a:pPr algn="just">
              <a:lnSpc>
                <a:spcPts val="5048"/>
              </a:lnSpc>
            </a:pPr>
            <a:r>
              <a:rPr lang="en-US" sz="3606">
                <a:solidFill>
                  <a:srgbClr val="1C2120"/>
                </a:solidFill>
                <a:latin typeface="Open Sans Light"/>
                <a:ea typeface="Open Sans Light"/>
                <a:cs typeface="Open Sans Light"/>
                <a:sym typeface="Open Sans Light"/>
              </a:rPr>
              <a:t> • Season and DL applied are numerical features</a:t>
            </a:r>
          </a:p>
          <a:p>
            <a:pPr algn="just">
              <a:lnSpc>
                <a:spcPts val="5048"/>
              </a:lnSpc>
            </a:pPr>
            <a:r>
              <a:rPr lang="en-US" sz="3606">
                <a:solidFill>
                  <a:srgbClr val="1C2120"/>
                </a:solidFill>
                <a:latin typeface="Open Sans Light"/>
                <a:ea typeface="Open Sans Light"/>
                <a:cs typeface="Open Sans Light"/>
                <a:sym typeface="Open Sans Light"/>
              </a:rPr>
              <a:t> • Understanding the nature of the data aids in selecting appropriate preprocessing techniques and machine learning models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05913" y="745329"/>
            <a:ext cx="16122863" cy="18924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DATA QUALITY </a:t>
            </a:r>
            <a:r>
              <a:rPr lang="en-US" b="true" sz="7881">
                <a:solidFill>
                  <a:srgbClr val="1C2120"/>
                </a:solidFill>
                <a:latin typeface="Poppins Bold"/>
                <a:ea typeface="Poppins Bold"/>
                <a:cs typeface="Poppins Bold"/>
                <a:sym typeface="Poppins Bold"/>
              </a:rPr>
              <a:t>CHALLENGES IDENTIFIED</a:t>
            </a:r>
          </a:p>
        </p:txBody>
      </p:sp>
      <p:sp>
        <p:nvSpPr>
          <p:cNvPr name="TextBox 3" id="3"/>
          <p:cNvSpPr txBox="true"/>
          <p:nvPr/>
        </p:nvSpPr>
        <p:spPr>
          <a:xfrm rot="0">
            <a:off x="1509126" y="3208096"/>
            <a:ext cx="15269748" cy="3804132"/>
          </a:xfrm>
          <a:prstGeom prst="rect">
            <a:avLst/>
          </a:prstGeom>
        </p:spPr>
        <p:txBody>
          <a:bodyPr anchor="t" rtlCol="false" tIns="0" lIns="0" bIns="0" rIns="0">
            <a:spAutoFit/>
          </a:bodyPr>
          <a:lstStyle/>
          <a:p>
            <a:pPr algn="just">
              <a:lnSpc>
                <a:spcPts val="5048"/>
              </a:lnSpc>
            </a:pPr>
            <a:r>
              <a:rPr lang="en-US" sz="3606">
                <a:solidFill>
                  <a:srgbClr val="1C2120"/>
                </a:solidFill>
                <a:latin typeface="Open Sans Light"/>
                <a:ea typeface="Open Sans Light"/>
                <a:cs typeface="Open Sans Light"/>
                <a:sym typeface="Open Sans Light"/>
              </a:rPr>
              <a:t>Initial exploration of the dataset revealed several data quality issues:</a:t>
            </a:r>
          </a:p>
          <a:p>
            <a:pPr algn="just">
              <a:lnSpc>
                <a:spcPts val="5048"/>
              </a:lnSpc>
            </a:pPr>
            <a:r>
              <a:rPr lang="en-US" sz="3606">
                <a:solidFill>
                  <a:srgbClr val="1C2120"/>
                </a:solidFill>
                <a:latin typeface="Open Sans Light"/>
                <a:ea typeface="Open Sans Light"/>
                <a:cs typeface="Open Sans Light"/>
                <a:sym typeface="Open Sans Light"/>
              </a:rPr>
              <a:t> • Presence of missing values in certain columns</a:t>
            </a:r>
          </a:p>
          <a:p>
            <a:pPr algn="just">
              <a:lnSpc>
                <a:spcPts val="5048"/>
              </a:lnSpc>
            </a:pPr>
            <a:r>
              <a:rPr lang="en-US" sz="3606">
                <a:solidFill>
                  <a:srgbClr val="1C2120"/>
                </a:solidFill>
                <a:latin typeface="Open Sans Light"/>
                <a:ea typeface="Open Sans Light"/>
                <a:cs typeface="Open Sans Light"/>
                <a:sym typeface="Open Sans Light"/>
              </a:rPr>
              <a:t> • Variations in team names due to franchise rebranding across seasons</a:t>
            </a:r>
          </a:p>
          <a:p>
            <a:pPr algn="just">
              <a:lnSpc>
                <a:spcPts val="5048"/>
              </a:lnSpc>
            </a:pPr>
            <a:r>
              <a:rPr lang="en-US" sz="3606">
                <a:solidFill>
                  <a:srgbClr val="1C2120"/>
                </a:solidFill>
                <a:latin typeface="Open Sans Light"/>
                <a:ea typeface="Open Sans Light"/>
                <a:cs typeface="Open Sans Light"/>
                <a:sym typeface="Open Sans Light"/>
              </a:rPr>
              <a:t> • A large number of categorical features requiring transformation</a:t>
            </a:r>
          </a:p>
          <a:p>
            <a:pPr algn="just">
              <a:lnSpc>
                <a:spcPts val="5048"/>
              </a:lnSpc>
            </a:pPr>
            <a:r>
              <a:rPr lang="en-US" sz="3606">
                <a:solidFill>
                  <a:srgbClr val="1C2120"/>
                </a:solidFill>
                <a:latin typeface="Open Sans Light"/>
                <a:ea typeface="Open Sans Light"/>
                <a:cs typeface="Open Sans Light"/>
                <a:sym typeface="Open Sans Light"/>
              </a:rPr>
              <a:t> • Some attributes needed preprocessing before model training</a:t>
            </a:r>
          </a:p>
          <a:p>
            <a:pPr algn="just">
              <a:lnSpc>
                <a:spcPts val="5048"/>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2003078" y="870534"/>
            <a:ext cx="13084008"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DATA CLEANING</a:t>
            </a:r>
          </a:p>
        </p:txBody>
      </p:sp>
      <p:sp>
        <p:nvSpPr>
          <p:cNvPr name="TextBox 3" id="3"/>
          <p:cNvSpPr txBox="true"/>
          <p:nvPr/>
        </p:nvSpPr>
        <p:spPr>
          <a:xfrm rot="0">
            <a:off x="910207" y="2571079"/>
            <a:ext cx="15269748" cy="3165957"/>
          </a:xfrm>
          <a:prstGeom prst="rect">
            <a:avLst/>
          </a:prstGeom>
        </p:spPr>
        <p:txBody>
          <a:bodyPr anchor="t" rtlCol="false" tIns="0" lIns="0" bIns="0" rIns="0">
            <a:spAutoFit/>
          </a:bodyPr>
          <a:lstStyle/>
          <a:p>
            <a:pPr algn="just">
              <a:lnSpc>
                <a:spcPts val="5048"/>
              </a:lnSpc>
            </a:pPr>
            <a:r>
              <a:rPr lang="en-US" sz="3606">
                <a:solidFill>
                  <a:srgbClr val="1C2120"/>
                </a:solidFill>
                <a:latin typeface="Open Sans Light"/>
                <a:ea typeface="Open Sans Light"/>
                <a:cs typeface="Open Sans Light"/>
                <a:sym typeface="Open Sans Light"/>
              </a:rPr>
              <a:t>• Missing values were </a:t>
            </a:r>
            <a:r>
              <a:rPr lang="en-US" sz="3606">
                <a:solidFill>
                  <a:srgbClr val="1C2120"/>
                </a:solidFill>
                <a:latin typeface="Open Sans Light"/>
                <a:ea typeface="Open Sans Light"/>
                <a:cs typeface="Open Sans Light"/>
                <a:sym typeface="Open Sans Light"/>
              </a:rPr>
              <a:t>handled using suitable imputation techniques</a:t>
            </a:r>
          </a:p>
          <a:p>
            <a:pPr algn="just">
              <a:lnSpc>
                <a:spcPts val="5048"/>
              </a:lnSpc>
            </a:pPr>
            <a:r>
              <a:rPr lang="en-US" sz="3606">
                <a:solidFill>
                  <a:srgbClr val="1C2120"/>
                </a:solidFill>
                <a:latin typeface="Open Sans Light"/>
                <a:ea typeface="Open Sans Light"/>
                <a:cs typeface="Open Sans Light"/>
                <a:sym typeface="Open Sans Light"/>
              </a:rPr>
              <a:t> • Matches without declared results were removed</a:t>
            </a:r>
          </a:p>
          <a:p>
            <a:pPr algn="just">
              <a:lnSpc>
                <a:spcPts val="5048"/>
              </a:lnSpc>
            </a:pPr>
            <a:r>
              <a:rPr lang="en-US" sz="3606">
                <a:solidFill>
                  <a:srgbClr val="1C2120"/>
                </a:solidFill>
                <a:latin typeface="Open Sans Light"/>
                <a:ea typeface="Open Sans Light"/>
                <a:cs typeface="Open Sans Light"/>
                <a:sym typeface="Open Sans Light"/>
              </a:rPr>
              <a:t> • Team names were standardized across all seasons</a:t>
            </a:r>
          </a:p>
          <a:p>
            <a:pPr algn="just">
              <a:lnSpc>
                <a:spcPts val="5048"/>
              </a:lnSpc>
            </a:pPr>
            <a:r>
              <a:rPr lang="en-US" sz="3606">
                <a:solidFill>
                  <a:srgbClr val="1C2120"/>
                </a:solidFill>
                <a:latin typeface="Open Sans Light"/>
                <a:ea typeface="Open Sans Light"/>
                <a:cs typeface="Open Sans Light"/>
                <a:sym typeface="Open Sans Light"/>
              </a:rPr>
              <a:t> • Irrelevant and redundant columns were eliminated to simplify the dataset</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343279" y="1050614"/>
            <a:ext cx="18013706"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EXPLORATORY DATA ANALYSIS </a:t>
            </a:r>
          </a:p>
        </p:txBody>
      </p:sp>
      <p:sp>
        <p:nvSpPr>
          <p:cNvPr name="TextBox 3" id="3"/>
          <p:cNvSpPr txBox="true"/>
          <p:nvPr/>
        </p:nvSpPr>
        <p:spPr>
          <a:xfrm rot="0">
            <a:off x="1028700" y="3066299"/>
            <a:ext cx="15269748" cy="3165957"/>
          </a:xfrm>
          <a:prstGeom prst="rect">
            <a:avLst/>
          </a:prstGeom>
        </p:spPr>
        <p:txBody>
          <a:bodyPr anchor="t" rtlCol="false" tIns="0" lIns="0" bIns="0" rIns="0">
            <a:spAutoFit/>
          </a:bodyPr>
          <a:lstStyle/>
          <a:p>
            <a:pPr algn="just">
              <a:lnSpc>
                <a:spcPts val="5048"/>
              </a:lnSpc>
            </a:pPr>
            <a:r>
              <a:rPr lang="en-US" sz="3606">
                <a:solidFill>
                  <a:srgbClr val="1C2120"/>
                </a:solidFill>
                <a:latin typeface="Open Sans Light"/>
                <a:ea typeface="Open Sans Light"/>
                <a:cs typeface="Open Sans Light"/>
                <a:sym typeface="Open Sans Light"/>
              </a:rPr>
              <a:t>Explor</a:t>
            </a:r>
            <a:r>
              <a:rPr lang="en-US" sz="3606">
                <a:solidFill>
                  <a:srgbClr val="1C2120"/>
                </a:solidFill>
                <a:latin typeface="Open Sans Light"/>
                <a:ea typeface="Open Sans Light"/>
                <a:cs typeface="Open Sans Light"/>
                <a:sym typeface="Open Sans Light"/>
              </a:rPr>
              <a:t>atory Data Analysis was conducted to uncover trends and patterns in the dataset:</a:t>
            </a:r>
          </a:p>
          <a:p>
            <a:pPr algn="just">
              <a:lnSpc>
                <a:spcPts val="5048"/>
              </a:lnSpc>
            </a:pPr>
            <a:r>
              <a:rPr lang="en-US" sz="3606">
                <a:solidFill>
                  <a:srgbClr val="1C2120"/>
                </a:solidFill>
                <a:latin typeface="Open Sans Light"/>
                <a:ea typeface="Open Sans Light"/>
                <a:cs typeface="Open Sans Light"/>
                <a:sym typeface="Open Sans Light"/>
              </a:rPr>
              <a:t> Team-wise match outcomes were examined</a:t>
            </a:r>
          </a:p>
          <a:p>
            <a:pPr algn="just">
              <a:lnSpc>
                <a:spcPts val="5048"/>
              </a:lnSpc>
            </a:pPr>
            <a:r>
              <a:rPr lang="en-US" sz="3606">
                <a:solidFill>
                  <a:srgbClr val="1C2120"/>
                </a:solidFill>
                <a:latin typeface="Open Sans Light"/>
                <a:ea typeface="Open Sans Light"/>
                <a:cs typeface="Open Sans Light"/>
                <a:sym typeface="Open Sans Light"/>
              </a:rPr>
              <a:t> </a:t>
            </a:r>
            <a:r>
              <a:rPr lang="en-US" sz="3606">
                <a:solidFill>
                  <a:srgbClr val="1C2120"/>
                </a:solidFill>
                <a:latin typeface="Open Sans Light"/>
                <a:ea typeface="Open Sans Light"/>
                <a:cs typeface="Open Sans Light"/>
                <a:sym typeface="Open Sans Light"/>
              </a:rPr>
              <a:t>The relationship between toss results and match outcomes was analyzed</a:t>
            </a:r>
          </a:p>
          <a:p>
            <a:pPr algn="just">
              <a:lnSpc>
                <a:spcPts val="5048"/>
              </a:lnSpc>
            </a:pPr>
            <a:r>
              <a:rPr lang="en-US" sz="3606">
                <a:solidFill>
                  <a:srgbClr val="1C2120"/>
                </a:solidFill>
                <a:latin typeface="Open Sans Light"/>
                <a:ea typeface="Open Sans Light"/>
                <a:cs typeface="Open Sans Light"/>
                <a:sym typeface="Open Sans Light"/>
              </a:rPr>
              <a:t> Venue-based performance trends were explored using visualizations.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3084008"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INSIGHTS</a:t>
            </a:r>
          </a:p>
        </p:txBody>
      </p:sp>
      <p:sp>
        <p:nvSpPr>
          <p:cNvPr name="TextBox 3" id="3"/>
          <p:cNvSpPr txBox="true"/>
          <p:nvPr/>
        </p:nvSpPr>
        <p:spPr>
          <a:xfrm rot="0">
            <a:off x="910207" y="2571079"/>
            <a:ext cx="15269748" cy="3165957"/>
          </a:xfrm>
          <a:prstGeom prst="rect">
            <a:avLst/>
          </a:prstGeom>
        </p:spPr>
        <p:txBody>
          <a:bodyPr anchor="t" rtlCol="false" tIns="0" lIns="0" bIns="0" rIns="0">
            <a:spAutoFit/>
          </a:bodyPr>
          <a:lstStyle/>
          <a:p>
            <a:pPr algn="just">
              <a:lnSpc>
                <a:spcPts val="5048"/>
              </a:lnSpc>
            </a:pPr>
            <a:r>
              <a:rPr lang="en-US" sz="3606">
                <a:solidFill>
                  <a:srgbClr val="1C2120"/>
                </a:solidFill>
                <a:latin typeface="Open Sans Light"/>
                <a:ea typeface="Open Sans Light"/>
                <a:cs typeface="Open Sans Light"/>
                <a:sym typeface="Open Sans Light"/>
              </a:rPr>
              <a:t>C</a:t>
            </a:r>
            <a:r>
              <a:rPr lang="en-US" sz="3606">
                <a:solidFill>
                  <a:srgbClr val="1C2120"/>
                </a:solidFill>
                <a:latin typeface="Open Sans Light"/>
                <a:ea typeface="Open Sans Light"/>
                <a:cs typeface="Open Sans Light"/>
                <a:sym typeface="Open Sans Light"/>
              </a:rPr>
              <a:t>ertain teams show consistent winning patterns across seasons</a:t>
            </a:r>
          </a:p>
          <a:p>
            <a:pPr algn="just">
              <a:lnSpc>
                <a:spcPts val="5048"/>
              </a:lnSpc>
            </a:pPr>
            <a:r>
              <a:rPr lang="en-US" sz="3606">
                <a:solidFill>
                  <a:srgbClr val="1C2120"/>
                </a:solidFill>
                <a:latin typeface="Open Sans Light"/>
                <a:ea typeface="Open Sans Light"/>
                <a:cs typeface="Open Sans Light"/>
                <a:sym typeface="Open Sans Light"/>
              </a:rPr>
              <a:t> • Toss advantage exists but does not strongly determine match outcomes</a:t>
            </a:r>
          </a:p>
          <a:p>
            <a:pPr algn="just">
              <a:lnSpc>
                <a:spcPts val="5048"/>
              </a:lnSpc>
            </a:pPr>
            <a:r>
              <a:rPr lang="en-US" sz="3606">
                <a:solidFill>
                  <a:srgbClr val="1C2120"/>
                </a:solidFill>
                <a:latin typeface="Open Sans Light"/>
                <a:ea typeface="Open Sans Light"/>
                <a:cs typeface="Open Sans Light"/>
                <a:sym typeface="Open Sans Light"/>
              </a:rPr>
              <a:t> • Familiarity with home venues significantly influences team performance</a:t>
            </a:r>
          </a:p>
          <a:p>
            <a:pPr algn="just">
              <a:lnSpc>
                <a:spcPts val="5048"/>
              </a:lnSpc>
            </a:pPr>
            <a:r>
              <a:rPr lang="en-US" sz="3606">
                <a:solidFill>
                  <a:srgbClr val="1C2120"/>
                </a:solidFill>
                <a:latin typeface="Open Sans Light"/>
                <a:ea typeface="Open Sans Light"/>
                <a:cs typeface="Open Sans Light"/>
                <a:sym typeface="Open Sans Light"/>
              </a:rPr>
              <a:t> • Teams batting second show higher win probability at specific venues</a:t>
            </a:r>
          </a:p>
          <a:p>
            <a:pPr algn="just">
              <a:lnSpc>
                <a:spcPts val="5048"/>
              </a:lnSpc>
            </a:pPr>
            <a:r>
              <a:rPr lang="en-US" sz="3606">
                <a:solidFill>
                  <a:srgbClr val="1C2120"/>
                </a:solidFill>
                <a:latin typeface="Open Sans Light"/>
                <a:ea typeface="Open Sans Light"/>
                <a:cs typeface="Open Sans Light"/>
                <a:sym typeface="Open Sans Light"/>
              </a:rPr>
              <a:t> • Matches affected by the DL method are more unpredictable</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3084008"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FEATURE SELECTION</a:t>
            </a:r>
          </a:p>
        </p:txBody>
      </p:sp>
      <p:sp>
        <p:nvSpPr>
          <p:cNvPr name="TextBox 3" id="3"/>
          <p:cNvSpPr txBox="true"/>
          <p:nvPr/>
        </p:nvSpPr>
        <p:spPr>
          <a:xfrm rot="0">
            <a:off x="910207" y="2571079"/>
            <a:ext cx="15269748" cy="3804132"/>
          </a:xfrm>
          <a:prstGeom prst="rect">
            <a:avLst/>
          </a:prstGeom>
        </p:spPr>
        <p:txBody>
          <a:bodyPr anchor="t" rtlCol="false" tIns="0" lIns="0" bIns="0" rIns="0">
            <a:spAutoFit/>
          </a:bodyPr>
          <a:lstStyle/>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Important predictor variables influencing match outcomes were identified</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Feature selection reduced dimensionality and improved model efficiency</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Selected features include team details, toss information, venue data, and match conditions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3084008"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DATA PROCESSING</a:t>
            </a:r>
          </a:p>
        </p:txBody>
      </p:sp>
      <p:sp>
        <p:nvSpPr>
          <p:cNvPr name="TextBox 3" id="3"/>
          <p:cNvSpPr txBox="true"/>
          <p:nvPr/>
        </p:nvSpPr>
        <p:spPr>
          <a:xfrm rot="0">
            <a:off x="910207" y="2571079"/>
            <a:ext cx="15269748" cy="3804132"/>
          </a:xfrm>
          <a:prstGeom prst="rect">
            <a:avLst/>
          </a:prstGeom>
        </p:spPr>
        <p:txBody>
          <a:bodyPr anchor="t" rtlCol="false" tIns="0" lIns="0" bIns="0" rIns="0">
            <a:spAutoFit/>
          </a:bodyPr>
          <a:lstStyle/>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Label Enc</a:t>
            </a:r>
            <a:r>
              <a:rPr lang="en-US" sz="3606">
                <a:solidFill>
                  <a:srgbClr val="1C2120"/>
                </a:solidFill>
                <a:latin typeface="Open Sans Light"/>
                <a:ea typeface="Open Sans Light"/>
                <a:cs typeface="Open Sans Light"/>
                <a:sym typeface="Open Sans Light"/>
              </a:rPr>
              <a:t>oding was used to convert categorical variables into numerical format</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Numerical representation is essential for machine learning algorithms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Predictor variables and the target variable were clearly separated</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The preprocessing phase resulted in a clean, model-ready dataset</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3084008"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TRAIN SPLIT TEST</a:t>
            </a:r>
          </a:p>
        </p:txBody>
      </p:sp>
      <p:sp>
        <p:nvSpPr>
          <p:cNvPr name="TextBox 3" id="3"/>
          <p:cNvSpPr txBox="true"/>
          <p:nvPr/>
        </p:nvSpPr>
        <p:spPr>
          <a:xfrm rot="0">
            <a:off x="910207" y="2571079"/>
            <a:ext cx="15269748" cy="2527782"/>
          </a:xfrm>
          <a:prstGeom prst="rect">
            <a:avLst/>
          </a:prstGeom>
        </p:spPr>
        <p:txBody>
          <a:bodyPr anchor="t" rtlCol="false" tIns="0" lIns="0" bIns="0" rIns="0">
            <a:spAutoFit/>
          </a:bodyPr>
          <a:lstStyle/>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The da</a:t>
            </a:r>
            <a:r>
              <a:rPr lang="en-US" sz="3606">
                <a:solidFill>
                  <a:srgbClr val="1C2120"/>
                </a:solidFill>
                <a:latin typeface="Open Sans Light"/>
                <a:ea typeface="Open Sans Light"/>
                <a:cs typeface="Open Sans Light"/>
                <a:sym typeface="Open Sans Light"/>
              </a:rPr>
              <a:t>taset was divided into training and testing subsets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80% of the data was used for training the models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20% was reserved for testing and validation</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This approach helps evaluate the model’s generalization ability</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5451533"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MACHINE LEARNING MODELS</a:t>
            </a:r>
          </a:p>
        </p:txBody>
      </p:sp>
      <p:sp>
        <p:nvSpPr>
          <p:cNvPr name="TextBox 3" id="3"/>
          <p:cNvSpPr txBox="true"/>
          <p:nvPr/>
        </p:nvSpPr>
        <p:spPr>
          <a:xfrm rot="0">
            <a:off x="910207" y="2571079"/>
            <a:ext cx="15269748" cy="3804132"/>
          </a:xfrm>
          <a:prstGeom prst="rect">
            <a:avLst/>
          </a:prstGeom>
        </p:spPr>
        <p:txBody>
          <a:bodyPr anchor="t" rtlCol="false" tIns="0" lIns="0" bIns="0" rIns="0">
            <a:spAutoFit/>
          </a:bodyPr>
          <a:lstStyle/>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Mul</a:t>
            </a:r>
            <a:r>
              <a:rPr lang="en-US" sz="3606">
                <a:solidFill>
                  <a:srgbClr val="1C2120"/>
                </a:solidFill>
                <a:latin typeface="Open Sans Light"/>
                <a:ea typeface="Open Sans Light"/>
                <a:cs typeface="Open Sans Light"/>
                <a:sym typeface="Open Sans Light"/>
              </a:rPr>
              <a:t>tiple classification models were trained using the IPL dataset</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Logistic Regression was used as a baseline model</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Advanced models such as SVM, KNN, Decision Tree, Random Forest, and XGBoost were implemented</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All models were trained on the same training set and evaluated on a common test set for fair comparison</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4704731"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MODEL EVALUATION METRICS</a:t>
            </a:r>
          </a:p>
        </p:txBody>
      </p:sp>
      <p:sp>
        <p:nvSpPr>
          <p:cNvPr name="TextBox 3" id="3"/>
          <p:cNvSpPr txBox="true"/>
          <p:nvPr/>
        </p:nvSpPr>
        <p:spPr>
          <a:xfrm rot="0">
            <a:off x="910207" y="2571079"/>
            <a:ext cx="15269748" cy="2527782"/>
          </a:xfrm>
          <a:prstGeom prst="rect">
            <a:avLst/>
          </a:prstGeom>
        </p:spPr>
        <p:txBody>
          <a:bodyPr anchor="t" rtlCol="false" tIns="0" lIns="0" bIns="0" rIns="0">
            <a:spAutoFit/>
          </a:bodyPr>
          <a:lstStyle/>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Accuracy</a:t>
            </a:r>
            <a:r>
              <a:rPr lang="en-US" sz="3606">
                <a:solidFill>
                  <a:srgbClr val="1C2120"/>
                </a:solidFill>
                <a:latin typeface="Open Sans Light"/>
                <a:ea typeface="Open Sans Light"/>
                <a:cs typeface="Open Sans Light"/>
                <a:sym typeface="Open Sans Light"/>
              </a:rPr>
              <a:t> was the primary evaluation metric</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Precision and Recall measured classification effectiveness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F1-score provided a balance between precision and recall</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Confusion matrices were used to analyze misclassification patterns</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4389590"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HYPERPARAMETER TUNING</a:t>
            </a:r>
          </a:p>
        </p:txBody>
      </p:sp>
      <p:sp>
        <p:nvSpPr>
          <p:cNvPr name="TextBox 3" id="3"/>
          <p:cNvSpPr txBox="true"/>
          <p:nvPr/>
        </p:nvSpPr>
        <p:spPr>
          <a:xfrm rot="0">
            <a:off x="1028700" y="2263293"/>
            <a:ext cx="15269748" cy="6995007"/>
          </a:xfrm>
          <a:prstGeom prst="rect">
            <a:avLst/>
          </a:prstGeom>
        </p:spPr>
        <p:txBody>
          <a:bodyPr anchor="t" rtlCol="false" tIns="0" lIns="0" bIns="0" rIns="0">
            <a:spAutoFit/>
          </a:bodyPr>
          <a:lstStyle/>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XGBoost achieved </a:t>
            </a:r>
            <a:r>
              <a:rPr lang="en-US" sz="3606">
                <a:solidFill>
                  <a:srgbClr val="1C2120"/>
                </a:solidFill>
                <a:latin typeface="Open Sans Light"/>
                <a:ea typeface="Open Sans Light"/>
                <a:cs typeface="Open Sans Light"/>
                <a:sym typeface="Open Sans Light"/>
              </a:rPr>
              <a:t>the highest accuracy of approximately 97%</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Its strong performance is due to its ability to capture complex, non-linear relationships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Randomized Search was applied to optimize hyperparameters such as: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Number of estimators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Maximum tree depth</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Learning rate</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Boosting enabled the model to iteratively reduce prediction errors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Due to its high accuracy, robustness, and efficiency, XGBoost was selected as the final model.</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728423" y="600413"/>
            <a:ext cx="13084008" cy="1028024"/>
          </a:xfrm>
          <a:prstGeom prst="rect">
            <a:avLst/>
          </a:prstGeom>
        </p:spPr>
        <p:txBody>
          <a:bodyPr anchor="t" rtlCol="false" tIns="0" lIns="0" bIns="0" rIns="0">
            <a:spAutoFit/>
          </a:bodyPr>
          <a:lstStyle/>
          <a:p>
            <a:pPr algn="ctr">
              <a:lnSpc>
                <a:spcPts val="6857"/>
              </a:lnSpc>
            </a:pPr>
            <a:r>
              <a:rPr lang="en-US" b="true" sz="7881">
                <a:solidFill>
                  <a:srgbClr val="1C2120"/>
                </a:solidFill>
                <a:latin typeface="Poppins Bold"/>
                <a:ea typeface="Poppins Bold"/>
                <a:cs typeface="Poppins Bold"/>
                <a:sym typeface="Poppins Bold"/>
              </a:rPr>
              <a:t>CONCLUSION</a:t>
            </a:r>
          </a:p>
        </p:txBody>
      </p:sp>
      <p:sp>
        <p:nvSpPr>
          <p:cNvPr name="TextBox 3" id="3"/>
          <p:cNvSpPr txBox="true"/>
          <p:nvPr/>
        </p:nvSpPr>
        <p:spPr>
          <a:xfrm rot="0">
            <a:off x="910207" y="2571079"/>
            <a:ext cx="15269748" cy="3804132"/>
          </a:xfrm>
          <a:prstGeom prst="rect">
            <a:avLst/>
          </a:prstGeom>
        </p:spPr>
        <p:txBody>
          <a:bodyPr anchor="t" rtlCol="false" tIns="0" lIns="0" bIns="0" rIns="0">
            <a:spAutoFit/>
          </a:bodyPr>
          <a:lstStyle/>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Machine learning mod</a:t>
            </a:r>
            <a:r>
              <a:rPr lang="en-US" sz="3606">
                <a:solidFill>
                  <a:srgbClr val="1C2120"/>
                </a:solidFill>
                <a:latin typeface="Open Sans Light"/>
                <a:ea typeface="Open Sans Light"/>
                <a:cs typeface="Open Sans Light"/>
                <a:sym typeface="Open Sans Light"/>
              </a:rPr>
              <a:t>els can effectively predict IPL match outcomes</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XGBoost outperformed all other models with an accuracy of approximately 97%</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The final trained model was saved as a .pkl file for future deployment</a:t>
            </a:r>
          </a:p>
          <a:p>
            <a:pPr algn="just" marL="778540" indent="-389270" lvl="1">
              <a:lnSpc>
                <a:spcPts val="5048"/>
              </a:lnSpc>
              <a:buFont typeface="Arial"/>
              <a:buChar char="•"/>
            </a:pPr>
            <a:r>
              <a:rPr lang="en-US" sz="3606">
                <a:solidFill>
                  <a:srgbClr val="1C2120"/>
                </a:solidFill>
                <a:latin typeface="Open Sans Light"/>
                <a:ea typeface="Open Sans Light"/>
                <a:cs typeface="Open Sans Light"/>
                <a:sym typeface="Open Sans Light"/>
              </a:rPr>
              <a:t> • All project objectives were successfully achieved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DAG_msPd5fg</dc:identifier>
  <dcterms:modified xsi:type="dcterms:W3CDTF">2011-08-01T06:04:30Z</dcterms:modified>
  <cp:revision>1</cp:revision>
  <dc:title>ML PPT</dc:title>
</cp:coreProperties>
</file>